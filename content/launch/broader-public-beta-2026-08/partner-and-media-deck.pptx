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51ee55c6fd45a6" /><Relationship Type="http://schemas.openxmlformats.org/officeDocument/2006/relationships/extended-properties" Target="/docProps/app.xml" Id="R6836b6d10c2e4cc6" /><Relationship Type="http://schemas.openxmlformats.org/officeDocument/2006/relationships/officeDocument" Target="/ppt/presentation.xml" Id="R6c8dcbc856bc47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71948cd4c843c9"/>
  </p:sldMasterIdLst>
  <p:notesMasterIdLst>
    <p:notesMasterId xmlns:r="http://schemas.openxmlformats.org/officeDocument/2006/relationships" r:id="R8a6fe8e6db7847ec"/>
  </p:notesMasterIdLst>
  <p:sldIdLst>
    <p:sldId xmlns:r="http://schemas.openxmlformats.org/officeDocument/2006/relationships" id="256" r:id="R947f97dbe9064e8b"/>
    <p:sldId xmlns:r="http://schemas.openxmlformats.org/officeDocument/2006/relationships" id="257" r:id="Ra9fbc8605596414c"/>
    <p:sldId xmlns:r="http://schemas.openxmlformats.org/officeDocument/2006/relationships" id="258" r:id="R42f113be8d5a4209"/>
    <p:sldId xmlns:r="http://schemas.openxmlformats.org/officeDocument/2006/relationships" id="259" r:id="R90f71eb56ff242f8"/>
    <p:sldId xmlns:r="http://schemas.openxmlformats.org/officeDocument/2006/relationships" id="260" r:id="Re9129adbac184313"/>
    <p:sldId xmlns:r="http://schemas.openxmlformats.org/officeDocument/2006/relationships" id="261" r:id="Raf41ab0856bd4f66"/>
    <p:sldId xmlns:r="http://schemas.openxmlformats.org/officeDocument/2006/relationships" id="262" r:id="Rde57b95c48ee4d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14bd30e5074715" /><Relationship Type="http://schemas.openxmlformats.org/officeDocument/2006/relationships/slideMaster" Target="/ppt/slideMasters/slideMaster1.xml" Id="R0f71948cd4c843c9" /><Relationship Type="http://schemas.openxmlformats.org/officeDocument/2006/relationships/notesMaster" Target="/ppt/notesMasters/notesMaster1.xml" Id="R8a6fe8e6db7847ec" /><Relationship Type="http://schemas.openxmlformats.org/officeDocument/2006/relationships/presProps" Target="/ppt/presProps.xml" Id="Rbb9b64bcaa584568" /><Relationship Type="http://schemas.openxmlformats.org/officeDocument/2006/relationships/tableStyles" Target="/ppt/tableStyles.xml" Id="Rb74ed3acec2c453d" /><Relationship Type="http://schemas.openxmlformats.org/officeDocument/2006/relationships/slide" Target="/ppt/slides/slide1.xml" Id="R947f97dbe9064e8b" /><Relationship Type="http://schemas.openxmlformats.org/officeDocument/2006/relationships/slide" Target="/ppt/slides/slide2.xml" Id="Ra9fbc8605596414c" /><Relationship Type="http://schemas.openxmlformats.org/officeDocument/2006/relationships/slide" Target="/ppt/slides/slide3.xml" Id="R42f113be8d5a4209" /><Relationship Type="http://schemas.openxmlformats.org/officeDocument/2006/relationships/slide" Target="/ppt/slides/slide4.xml" Id="R90f71eb56ff242f8" /><Relationship Type="http://schemas.openxmlformats.org/officeDocument/2006/relationships/slide" Target="/ppt/slides/slide5.xml" Id="Re9129adbac184313" /><Relationship Type="http://schemas.openxmlformats.org/officeDocument/2006/relationships/slide" Target="/ppt/slides/slide6.xml" Id="Raf41ab0856bd4f66" /><Relationship Type="http://schemas.openxmlformats.org/officeDocument/2006/relationships/slide" Target="/ppt/slides/slide7.xml" Id="Rde57b95c48ee4d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6d7ffb74304c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002fef976d4e7b" /><Relationship Type="http://schemas.openxmlformats.org/officeDocument/2006/relationships/notesMaster" Target="/ppt/notesMasters/notesMaster1.xml" Id="Rcbb58d7303724a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e0f45941b3405f" /><Relationship Type="http://schemas.openxmlformats.org/officeDocument/2006/relationships/notesMaster" Target="/ppt/notesMasters/notesMaster1.xml" Id="R5c99736b66a048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9a597973144d6a" /><Relationship Type="http://schemas.openxmlformats.org/officeDocument/2006/relationships/notesMaster" Target="/ppt/notesMasters/notesMaster1.xml" Id="Re581703bcdd246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d699a0b2204628" /><Relationship Type="http://schemas.openxmlformats.org/officeDocument/2006/relationships/notesMaster" Target="/ppt/notesMasters/notesMaster1.xml" Id="Re9aa3cfe077b4e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09b1a7fe97462d" /><Relationship Type="http://schemas.openxmlformats.org/officeDocument/2006/relationships/notesMaster" Target="/ppt/notesMasters/notesMaster1.xml" Id="R33bda7e4026d4f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594e63569f4f12" /><Relationship Type="http://schemas.openxmlformats.org/officeDocument/2006/relationships/notesMaster" Target="/ppt/notesMasters/notesMaster1.xml" Id="R02b15edd20ef48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8a91e400f5440d" /><Relationship Type="http://schemas.openxmlformats.org/officeDocument/2006/relationships/notesMaster" Target="/ppt/notesMasters/notesMaster1.xml" Id="Rcbd50ea5eb424b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visibility problem. True North Map is a discovery and decision-support layer, not a company directory with better styling.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https://truenorthmap.ca/</a:t>
            </a:r>
          </a:p>
          <a:p xmlns:a="http://schemas.openxmlformats.org/drawingml/2006/main">
            <a:r>
              <a:t>- Local screenshot: content/launch/broader-public-beta-2026-08/screenshots/homepage-desktop.png</a:t>
            </a:r>
          </a:p>
          <a:p xmlns:a="http://schemas.openxmlformats.org/drawingml/2006/main">
            <a:r>
              <a:t>- True North Map Project Overview, reviewed 2026-07-31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product around the work the user is trying to complete. The organization corpus matters because it supports a more useful decision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https://truenorthmap.ca/organizations</a:t>
            </a:r>
          </a:p>
          <a:p xmlns:a="http://schemas.openxmlformats.org/drawingml/2006/main">
            <a:r>
              <a:t>- Local screenshot: content/launch/broader-public-beta-2026-08/screenshots/organizations-desktop.png</a:t>
            </a:r>
          </a:p>
          <a:p xmlns:a="http://schemas.openxmlformats.org/drawingml/2006/main">
            <a:r>
              <a:t>- True North Map Project Overview, reviewed 2026-07-31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distinction between Mission Areas and Public Needs. Mission Areas organize reviewed capability relationships. Public Needs are grounded in released public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https://truenorthmap.ca/missions</a:t>
            </a:r>
          </a:p>
          <a:p xmlns:a="http://schemas.openxmlformats.org/drawingml/2006/main">
            <a:r>
              <a:t>- Local screenshot: content/launch/broader-public-beta-2026-08/screenshots/missions-desktop.png</a:t>
            </a:r>
          </a:p>
          <a:p xmlns:a="http://schemas.openxmlformats.org/drawingml/2006/main">
            <a:r>
              <a:t>- True North Map Project Overview, Terms and language map, reviewed 2026-07-31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why the product is more than web scraping. Data enters a reviewed relationship model, and the public experience keeps evidence, assessment and action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True North Map Project Overview, Evidence, review, and publication flow, reviewed 2026-07-31</a:t>
            </a:r>
          </a:p>
          <a:p xmlns:a="http://schemas.openxmlformats.org/drawingml/2006/main">
            <a:r>
              <a:t>- https://truenorthmap.ca/how-it-works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review-first publication boundary. Automation helps find and structure possible updates. Human review and a separate publish checkpoint remain mandatory.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https://truenorthmap.ca/demand/land-formation-combat-effectiveness</a:t>
            </a:r>
          </a:p>
          <a:p xmlns:a="http://schemas.openxmlformats.org/drawingml/2006/main">
            <a:r>
              <a:t>- Local screenshot: content/launch/broader-public-beta-2026-08/screenshots/public-need-detail-desktop.png</a:t>
            </a:r>
          </a:p>
          <a:p xmlns:a="http://schemas.openxmlformats.org/drawingml/2006/main">
            <a:r>
              <a:t>- True North Map Project Overview, Evidence, review, and publication flow, reviewed 2026-07-31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value is not another profile page. It is a supported next move: compare, save, correct, share or ask for a relevant introduction.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https://truenorthmap.ca/organizations/kraken-robotics</a:t>
            </a:r>
          </a:p>
          <a:p xmlns:a="http://schemas.openxmlformats.org/drawingml/2006/main">
            <a:r>
              <a:t>- Local screenshot: content/launch/broader-public-beta-2026-08/screenshots/organization-kraken-desktop.png</a:t>
            </a:r>
          </a:p>
          <a:p xmlns:a="http://schemas.openxmlformats.org/drawingml/2006/main">
            <a:r>
              <a:t>- True North Map Project Overview, Current product surface, reviewed 2026-07-31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one low-effort ask: try a real work question, then decide whether the record moves the user closer to a useful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https://truenorthmap.ca/</a:t>
            </a:r>
          </a:p>
          <a:p xmlns:a="http://schemas.openxmlformats.org/drawingml/2006/main">
            <a:r>
              <a:t>- True North Map response guide, current broader public beta launch kit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4dfbf2ed144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78ac40456f469d" /><Relationship Type="http://schemas.openxmlformats.org/officeDocument/2006/relationships/slideLayout" Target="/ppt/slideLayouts/slideLayout1.xml" Id="R2a53d2388ebc49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53d2388ebc49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f1d48eb3b4975" /><Relationship Type="http://schemas.openxmlformats.org/officeDocument/2006/relationships/image" Target="/ppt/media/image.png" Id="R8fe79a5cc8ca436b" /><Relationship Type="http://schemas.openxmlformats.org/officeDocument/2006/relationships/image" Target="/ppt/media/image.svg" Id="R1add0c1b447d4d7f" /><Relationship Type="http://schemas.openxmlformats.org/officeDocument/2006/relationships/image" Target="/ppt/media/image.jpeg" Id="Rdf5caf751a7c4ef7" /><Relationship Type="http://schemas.openxmlformats.org/officeDocument/2006/relationships/notesSlide" Target="/ppt/notesSlides/notesSlide1.xml" Id="Rb08c34ffb9894a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74741b76248ab" /><Relationship Type="http://schemas.openxmlformats.org/officeDocument/2006/relationships/image" Target="/ppt/media/image2.png" Id="Rd04d6f62b9c94ca6" /><Relationship Type="http://schemas.openxmlformats.org/officeDocument/2006/relationships/image" Target="/ppt/media/image2.svg" Id="Rd92c122f6b5c48a4" /><Relationship Type="http://schemas.openxmlformats.org/officeDocument/2006/relationships/image" Target="/ppt/media/image2.jpeg" Id="R5379cbc97f85496a" /><Relationship Type="http://schemas.openxmlformats.org/officeDocument/2006/relationships/notesSlide" Target="/ppt/notesSlides/notesSlide2.xml" Id="R71a02882f1bb4a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9978245854e6f" /><Relationship Type="http://schemas.openxmlformats.org/officeDocument/2006/relationships/image" Target="/ppt/media/image3.png" Id="R26780e3fa8d943a7" /><Relationship Type="http://schemas.openxmlformats.org/officeDocument/2006/relationships/image" Target="/ppt/media/image3.svg" Id="Re58aacdd84cb4827" /><Relationship Type="http://schemas.openxmlformats.org/officeDocument/2006/relationships/image" Target="/ppt/media/image3.jpeg" Id="R26a5eeaec9954098" /><Relationship Type="http://schemas.openxmlformats.org/officeDocument/2006/relationships/notesSlide" Target="/ppt/notesSlides/notesSlide3.xml" Id="Rf6d2e9191eea4b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895102b474f5e" /><Relationship Type="http://schemas.openxmlformats.org/officeDocument/2006/relationships/notesSlide" Target="/ppt/notesSlides/notesSlide4.xml" Id="R575ef770847242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e80b451614c7d" /><Relationship Type="http://schemas.openxmlformats.org/officeDocument/2006/relationships/image" Target="/ppt/media/image4.png" Id="Rfe3a2bcacb6642ae" /><Relationship Type="http://schemas.openxmlformats.org/officeDocument/2006/relationships/image" Target="/ppt/media/image4.svg" Id="Reec84dae393e4880" /><Relationship Type="http://schemas.openxmlformats.org/officeDocument/2006/relationships/image" Target="/ppt/media/image4.jpeg" Id="R488715ee4dea46f8" /><Relationship Type="http://schemas.openxmlformats.org/officeDocument/2006/relationships/notesSlide" Target="/ppt/notesSlides/notesSlide5.xml" Id="R2f2f617093e840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635019f134638" /><Relationship Type="http://schemas.openxmlformats.org/officeDocument/2006/relationships/image" Target="/ppt/media/image5.png" Id="R2f3416e652294c0e" /><Relationship Type="http://schemas.openxmlformats.org/officeDocument/2006/relationships/image" Target="/ppt/media/image5.svg" Id="Rc76caa7ca4f24592" /><Relationship Type="http://schemas.openxmlformats.org/officeDocument/2006/relationships/image" Target="/ppt/media/image5.jpeg" Id="R968ef376c5ac4640" /><Relationship Type="http://schemas.openxmlformats.org/officeDocument/2006/relationships/notesSlide" Target="/ppt/notesSlides/notesSlide6.xml" Id="Rbab887566c044c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5f004cf774c15" /><Relationship Type="http://schemas.openxmlformats.org/officeDocument/2006/relationships/image" Target="/ppt/media/image6.png" Id="R71f4cd34f37845ee" /><Relationship Type="http://schemas.openxmlformats.org/officeDocument/2006/relationships/image" Target="/ppt/media/image6.svg" Id="Rcf1e96f3a7f74376" /><Relationship Type="http://schemas.openxmlformats.org/officeDocument/2006/relationships/image" Target="/ppt/media/image7.png" Id="R19788194eba2476a" /><Relationship Type="http://schemas.openxmlformats.org/officeDocument/2006/relationships/notesSlide" Target="/ppt/notesSlides/notesSlide7.xml" Id="R67fe795d871743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2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gnal-line">
            <a:extLst xmlns:a="http://schemas.openxmlformats.org/drawingml/2006/main">
              <a:ext uri="{FF2B5EF4-FFF2-40B4-BE49-F238E27FC236}">
                <a16:creationId xmlns:a16="http://schemas.microsoft.com/office/drawing/2014/main" id="{BEFDE9C6-DA33-42B0-9DFE-FED86D79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79a5cc8ca436b">
            <a:extLst>
              <a:ext uri="{96DAC541-7B7A-43D3-8B79-37D633B846F1}">
                <asvg:svgBlip xmlns:asvg="http://schemas.microsoft.com/office/drawing/2016/SVG/main" r:embed="R1add0c1b447d4d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95300"/>
            <a:ext cx="238125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84F8E-9313-48E7-9F7D-347F75C6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CAC7"/>
                </a:solidFill>
              </a:defRPr>
            </a:pPr>
            <a:r>
              <a:rPr sz="900" b="1">
                <a:solidFill>
                  <a:srgbClr val="C6CAC7"/>
                </a:solidFill>
              </a:rPr>
              <a:t>EVIDENCE-LED ECOSYSTEM DISCOVERY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2EC222-666C-4A26-BF05-2E5B8A8C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3816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Canada is building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more than most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people can see.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D34B8-2C0B-4754-89CF-4B05FE47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AD8"/>
                </a:solidFill>
              </a:defRPr>
            </a:pPr>
            <a:r>
              <a:rPr sz="1500" b="0">
                <a:solidFill>
                  <a:srgbClr val="D8DAD8"/>
                </a:solidFill>
              </a:rPr>
              <a:t>True North Map makes Canadian defence and dual-use capability easier to find, understand and connect.</a:t>
            </a:r>
          </a:p>
        </p:txBody>
      </p:sp>
      <p:sp>
        <p:nvSpPr>
          <p:cNvPr id="6" name="brand-promise">
            <a:extLst xmlns:a="http://schemas.openxmlformats.org/drawingml/2006/main">
              <a:ext uri="{FF2B5EF4-FFF2-40B4-BE49-F238E27FC236}">
                <a16:creationId xmlns:a16="http://schemas.microsoft.com/office/drawing/2014/main" id="{79104143-C6C0-4D33-9A31-7FA18AA6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3571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530D1-7681-4E0B-8261-7EF40B22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933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827"/>
                </a:solidFill>
              </a:defRPr>
            </a:pPr>
            <a:r>
              <a:rPr sz="1200" b="1">
                <a:solidFill>
                  <a:srgbClr val="242827"/>
                </a:solidFill>
              </a:rPr>
              <a:t>MAKE CANADIAN CAPABILITY VISIBLE.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caf751a7c4ef7"/>
          <a:srcRect xmlns:a="http://schemas.openxmlformats.org/drawingml/2006/main" l="15795" t="0" r="157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00825" y="876300"/>
            <a:ext cx="4905375" cy="4981575"/>
          </a:xfrm>
          <a:prstGeom xmlns:a="http://schemas.openxmlformats.org/drawingml/2006/main" prst="rect">
            <a:avLst/>
          </a:prstGeom>
        </p:spPr>
      </p:pic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1C72BD2B-A008-494B-91C4-7D672F5B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876300"/>
            <a:ext cx="47625" cy="498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2A983-B53F-46D2-A083-567B49E4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E900"/>
                </a:solidFill>
              </a:defRPr>
            </a:pPr>
            <a:r>
              <a:rPr sz="900" b="1">
                <a:solidFill>
                  <a:srgbClr val="F5E900"/>
                </a:solidFill>
              </a:rPr>
              <a:t>PUBLIC BETA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C6EF10FB-9BAF-4758-9F42-76905C55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2BF6B-017F-467E-9B39-683D6467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TRUENORTHMAP.CA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E1045-D262-464F-A478-3380332F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E900"/>
                </a:solidFill>
              </a:defRPr>
            </a:pPr>
            <a:r>
              <a:rPr sz="825" b="1">
                <a:solidFill>
                  <a:srgbClr val="F5E90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794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d6f62b9c94ca6">
            <a:extLst>
              <a:ext uri="{96DAC541-7B7A-43D3-8B79-37D633B846F1}">
                <asvg:svgBlip xmlns:asvg="http://schemas.microsoft.com/office/drawing/2016/SVG/main" r:embed="Rd92c122f6b5c48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95300"/>
            <a:ext cx="238125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C8EF6-D4B5-429A-A5A7-020A5DBB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965"/>
                </a:solidFill>
              </a:defRPr>
            </a:pPr>
            <a:r>
              <a:rPr sz="900" b="1">
                <a:solidFill>
                  <a:srgbClr val="666965"/>
                </a:solidFill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8CCDD-2986-4E09-8509-391A84C6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827"/>
                </a:solidFill>
              </a:defRPr>
            </a:pPr>
            <a:r>
              <a:rPr sz="3150" b="1">
                <a:solidFill>
                  <a:srgbClr val="242827"/>
                </a:solidFill>
              </a:rPr>
              <a:t>Visibility breaks down before the work begins.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CBB6E-8606-4C0B-A471-3C67156D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965"/>
                </a:solidFill>
              </a:defRPr>
            </a:pPr>
            <a:r>
              <a:rPr sz="1425" b="0">
                <a:solidFill>
                  <a:srgbClr val="666965"/>
                </a:solidFill>
              </a:rPr>
              <a:t>Canadian capability is spread across company pages, program lists, regional networks, technical language and public releases.</a:t>
            </a:r>
          </a:p>
        </p:txBody>
      </p:sp>
      <p:sp>
        <p:nvSpPr>
          <p:cNvPr id="5" name="signal-Find">
            <a:extLst xmlns:a="http://schemas.openxmlformats.org/drawingml/2006/main">
              <a:ext uri="{FF2B5EF4-FFF2-40B4-BE49-F238E27FC236}">
                <a16:creationId xmlns:a16="http://schemas.microsoft.com/office/drawing/2014/main" id="{AC91945A-E509-44F5-B3EA-74029CD6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06469-F009-4C85-963F-7A771E14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827"/>
                </a:solidFill>
              </a:defRPr>
            </a:pPr>
            <a:r>
              <a:rPr sz="1500" b="1">
                <a:solidFill>
                  <a:srgbClr val="242827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EB52D-8068-4B6F-B0A9-658B6D26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86200"/>
            <a:ext cx="340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965"/>
                </a:solidFill>
              </a:defRPr>
            </a:pPr>
            <a:r>
              <a:rPr sz="1200" b="0">
                <a:solidFill>
                  <a:srgbClr val="666965"/>
                </a:solidFill>
              </a:rPr>
              <a:t>the organizations and technologies that matter.</a:t>
            </a:r>
          </a:p>
        </p:txBody>
      </p:sp>
      <p:sp>
        <p:nvSpPr>
          <p:cNvPr id="8" name="signal-Understand">
            <a:extLst xmlns:a="http://schemas.openxmlformats.org/drawingml/2006/main">
              <a:ext uri="{FF2B5EF4-FFF2-40B4-BE49-F238E27FC236}">
                <a16:creationId xmlns:a16="http://schemas.microsoft.com/office/drawing/2014/main" id="{94646F50-3E8B-4D5F-9C98-2CBF5FF0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CFC9D-D45F-4A6A-8E2C-1D08FDB9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05325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827"/>
                </a:solidFill>
              </a:defRPr>
            </a:pPr>
            <a:r>
              <a:rPr sz="1500" b="1">
                <a:solidFill>
                  <a:srgbClr val="242827"/>
                </a:solidFill>
              </a:rPr>
              <a:t>Understand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2AE73-F011-4394-A1AD-E57AE2E0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24375"/>
            <a:ext cx="340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965"/>
                </a:solidFill>
              </a:defRPr>
            </a:pPr>
            <a:r>
              <a:rPr sz="1200" b="0">
                <a:solidFill>
                  <a:srgbClr val="666965"/>
                </a:solidFill>
              </a:rPr>
              <a:t>why they may fit a mission or released public need.</a:t>
            </a:r>
          </a:p>
        </p:txBody>
      </p:sp>
      <p:sp>
        <p:nvSpPr>
          <p:cNvPr id="11" name="signal-Act">
            <a:extLst xmlns:a="http://schemas.openxmlformats.org/drawingml/2006/main">
              <a:ext uri="{FF2B5EF4-FFF2-40B4-BE49-F238E27FC236}">
                <a16:creationId xmlns:a16="http://schemas.microsoft.com/office/drawing/2014/main" id="{7824F814-8AC5-4801-BC76-89D973C4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7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FB212-7700-4C75-97D7-144317E1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827"/>
                </a:solidFill>
              </a:defRPr>
            </a:pPr>
            <a:r>
              <a:rPr sz="1500" b="1">
                <a:solidFill>
                  <a:srgbClr val="242827"/>
                </a:solidFill>
              </a:rPr>
              <a:t>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4B8ED-EEA6-497F-9B37-DF397221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62550"/>
            <a:ext cx="340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965"/>
                </a:solidFill>
              </a:defRPr>
            </a:pPr>
            <a:r>
              <a:rPr sz="1200" b="0">
                <a:solidFill>
                  <a:srgbClr val="666965"/>
                </a:solidFill>
              </a:rPr>
              <a:t>with the evidence, limits and next step in view.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9cbc97f85496a"/>
          <a:srcRect xmlns:a="http://schemas.openxmlformats.org/drawingml/2006/main" l="10921" t="0" r="109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123950"/>
            <a:ext cx="5314950" cy="4724400"/>
          </a:xfrm>
          <a:prstGeom xmlns:a="http://schemas.openxmlformats.org/drawingml/2006/main" prst="rect">
            <a:avLst/>
          </a:prstGeom>
        </p:spPr>
      </p:pic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C719E10B-864B-4C05-8C6E-7FCE4B47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24550"/>
            <a:ext cx="5314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B35A760F-6567-4D14-91DC-DE8A99B5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346F7-2688-4DEC-A013-372C5039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6965"/>
                </a:solidFill>
              </a:defRPr>
            </a:pPr>
            <a:r>
              <a:rPr sz="825" b="1">
                <a:solidFill>
                  <a:srgbClr val="666965"/>
                </a:solidFill>
              </a:rPr>
              <a:t>TRUENORTHMAP.CA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C15683-7287-4E35-9A3D-C32197C3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965"/>
                </a:solidFill>
              </a:defRPr>
            </a:pPr>
            <a:r>
              <a:rPr sz="825" b="1">
                <a:solidFill>
                  <a:srgbClr val="66696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449108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gnal-line">
            <a:extLst xmlns:a="http://schemas.openxmlformats.org/drawingml/2006/main">
              <a:ext uri="{FF2B5EF4-FFF2-40B4-BE49-F238E27FC236}">
                <a16:creationId xmlns:a16="http://schemas.microsoft.com/office/drawing/2014/main" id="{F95077FD-335D-4A0C-BAF0-0268F90F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80e3fa8d943a7">
            <a:extLst>
              <a:ext uri="{96DAC541-7B7A-43D3-8B79-37D633B846F1}">
                <asvg:svgBlip xmlns:asvg="http://schemas.microsoft.com/office/drawing/2016/SVG/main" r:embed="Re58aacdd84cb48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95300"/>
            <a:ext cx="238125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603DA-2FB1-43A0-AD80-4AF6D73F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965"/>
                </a:solidFill>
              </a:defRPr>
            </a:pPr>
            <a:r>
              <a:rPr sz="900" b="1">
                <a:solidFill>
                  <a:srgbClr val="666965"/>
                </a:solidFill>
              </a:rPr>
              <a:t>A MISSION-LED ENTRY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A4420-076A-4399-8112-1A30C569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2827"/>
                </a:solidFill>
              </a:defRPr>
            </a:pPr>
            <a:r>
              <a:rPr sz="3000" b="1">
                <a:solidFill>
                  <a:srgbClr val="242827"/>
                </a:solidFill>
              </a:rPr>
              <a:t>Start with the mission, not a company 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C595F-F0CC-4F65-94F6-4EAA239B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965"/>
                </a:solidFill>
              </a:defRPr>
            </a:pPr>
            <a:r>
              <a:rPr sz="1350" b="0">
                <a:solidFill>
                  <a:srgbClr val="666965"/>
                </a:solidFill>
              </a:rPr>
              <a:t>Mission Areas turn a practical operating problem into a reviewed landscape of organizations, technologies and released Public Needs.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5eeaec9954098"/>
          <a:srcRect xmlns:a="http://schemas.openxmlformats.org/drawingml/2006/main" l="0" t="30360" r="0" b="303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143250"/>
            <a:ext cx="10820400" cy="2952750"/>
          </a:xfrm>
          <a:prstGeom xmlns:a="http://schemas.openxmlformats.org/drawingml/2006/main" prst="rect">
            <a:avLst/>
          </a:prstGeom>
        </p:spPr>
      </p:pic>
      <p:sp>
        <p:nvSpPr>
          <p:cNvPr id="7" name="mission-caveat">
            <a:extLst xmlns:a="http://schemas.openxmlformats.org/drawingml/2006/main">
              <a:ext uri="{FF2B5EF4-FFF2-40B4-BE49-F238E27FC236}">
                <a16:creationId xmlns:a16="http://schemas.microsoft.com/office/drawing/2014/main" id="{35AD9295-61A4-4F78-BBF2-8B066613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4600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88B68-685D-4A0C-9349-5AA65EFF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479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2827"/>
                </a:solidFill>
              </a:defRPr>
            </a:pPr>
            <a:r>
              <a:rPr sz="975" b="1">
                <a:solidFill>
                  <a:srgbClr val="242827"/>
                </a:solidFill>
              </a:rPr>
              <a:t>A reviewed assessment layer, not a claim of customer demand.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4FB4DE90-6527-43C7-B1CE-2B5E67AA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FD5FF-CE6E-40E6-AE54-8614BF8F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6965"/>
                </a:solidFill>
              </a:defRPr>
            </a:pPr>
            <a:r>
              <a:rPr sz="825" b="1">
                <a:solidFill>
                  <a:srgbClr val="666965"/>
                </a:solidFill>
              </a:rPr>
              <a:t>TRUENORTHMAP.CA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74969-FBAB-4D58-91BD-9C44256B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965"/>
                </a:solidFill>
              </a:defRPr>
            </a:pPr>
            <a:r>
              <a:rPr sz="825" b="1">
                <a:solidFill>
                  <a:srgbClr val="66696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8319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ignal-line">
            <a:extLst xmlns:a="http://schemas.openxmlformats.org/drawingml/2006/main">
              <a:ext uri="{FF2B5EF4-FFF2-40B4-BE49-F238E27FC236}">
                <a16:creationId xmlns:a16="http://schemas.microsoft.com/office/drawing/2014/main" id="{D6978961-7F1C-4179-BF26-F17A1CA1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53B94-B7F5-481B-9717-7F93BF34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965"/>
                </a:solidFill>
              </a:defRPr>
            </a:pPr>
            <a:r>
              <a:rPr sz="900" b="1">
                <a:solidFill>
                  <a:srgbClr val="666965"/>
                </a:solidFill>
              </a:rPr>
              <a:t>THE INTELLIGENCE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0A500-8E16-4B8E-94AA-EC38CF72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827"/>
                </a:solidFill>
              </a:defRPr>
            </a:pPr>
            <a:r>
              <a:rPr sz="3150" b="1">
                <a:solidFill>
                  <a:srgbClr val="242827"/>
                </a:solidFill>
              </a:rPr>
              <a:t>Connect what exists to why it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1DDF2-59BC-45C0-A1D1-E59AABBD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965"/>
                </a:solidFill>
              </a:defRPr>
            </a:pPr>
            <a:r>
              <a:rPr sz="1350" b="0">
                <a:solidFill>
                  <a:srgbClr val="666965"/>
                </a:solidFill>
              </a:rPr>
              <a:t>Each step keeps the record, the interpretation and the next action separate.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C7CD574C-16CC-439C-BD9B-45F9572B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6707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1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24019-7C4F-4B88-A5AB-E8CBBDAC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1146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6147"/>
                </a:solidFill>
              </a:defRPr>
            </a:pPr>
            <a:r>
              <a:rPr sz="1650" b="1">
                <a:solidFill>
                  <a:srgbClr val="126147"/>
                </a:solidFill>
              </a:rPr>
              <a:t>→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466D7C33-C3E0-4FE9-97DB-AFEBBAB0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26707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1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12737-B4C2-44C4-911E-9052F331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146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6147"/>
                </a:solidFill>
              </a:defRPr>
            </a:pPr>
            <a:r>
              <a:rPr sz="1650" b="1">
                <a:solidFill>
                  <a:srgbClr val="126147"/>
                </a:solidFill>
              </a:rPr>
              <a:t>→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465EE27A-689C-411F-AAF3-85BF2B70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6707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1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4D900-9FC9-40EA-A63E-FF757391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1146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6147"/>
                </a:solidFill>
              </a:defRPr>
            </a:pPr>
            <a:r>
              <a:rPr sz="1650" b="1">
                <a:solidFill>
                  <a:srgbClr val="126147"/>
                </a:solidFill>
              </a:rPr>
              <a:t>→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6FE598C9-5783-4507-98C7-8A38EADD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26707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1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B76B1-89B5-4C20-BA3B-936AD609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14675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6147"/>
                </a:solidFill>
              </a:defRPr>
            </a:pPr>
            <a:r>
              <a:rPr sz="1650" b="1">
                <a:solidFill>
                  <a:srgbClr val="126147"/>
                </a:solidFill>
              </a:rPr>
              <a:t>→</a:t>
            </a:r>
          </a:p>
        </p:txBody>
      </p:sp>
      <p:sp>
        <p:nvSpPr>
          <p:cNvPr id="13" name="step-01">
            <a:extLst xmlns:a="http://schemas.openxmlformats.org/drawingml/2006/main">
              <a:ext uri="{FF2B5EF4-FFF2-40B4-BE49-F238E27FC236}">
                <a16:creationId xmlns:a16="http://schemas.microsoft.com/office/drawing/2014/main" id="{15571087-2FDD-4B9B-8F04-B3531DA7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A70E4-E8FA-4D00-8D10-D2ECF3D9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827"/>
                </a:solidFill>
              </a:defRPr>
            </a:pPr>
            <a:r>
              <a:rPr sz="1050" b="1">
                <a:solidFill>
                  <a:srgbClr val="242827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DF8B1-3CBC-424F-B7F8-37AABC99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827"/>
                </a:solidFill>
              </a:defRPr>
            </a:pPr>
            <a:r>
              <a:rPr sz="1800" b="1">
                <a:solidFill>
                  <a:srgbClr val="242827"/>
                </a:solidFill>
              </a:rPr>
              <a:t>Mission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1F01A-4B52-4A02-9B38-BF483874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965"/>
                </a:solidFill>
              </a:defRPr>
            </a:pPr>
            <a:r>
              <a:rPr sz="1200" b="0">
                <a:solidFill>
                  <a:srgbClr val="666965"/>
                </a:solidFill>
              </a:rPr>
              <a:t>Start with the use case or operating problem.</a:t>
            </a:r>
          </a:p>
        </p:txBody>
      </p:sp>
      <p:sp>
        <p:nvSpPr>
          <p:cNvPr id="17" name="step-02">
            <a:extLst xmlns:a="http://schemas.openxmlformats.org/drawingml/2006/main">
              <a:ext uri="{FF2B5EF4-FFF2-40B4-BE49-F238E27FC236}">
                <a16:creationId xmlns:a16="http://schemas.microsoft.com/office/drawing/2014/main" id="{331131FF-E4EE-4D1B-A837-C7912D9A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57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601F6-5688-4FD2-9AB6-15A05D0E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52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827"/>
                </a:solidFill>
              </a:defRPr>
            </a:pPr>
            <a:r>
              <a:rPr sz="1050" b="1">
                <a:solidFill>
                  <a:srgbClr val="242827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3CCF7-F5A2-4314-87D0-DFD730FC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861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827"/>
                </a:solidFill>
              </a:defRPr>
            </a:pPr>
            <a:r>
              <a:rPr sz="1800" b="1">
                <a:solidFill>
                  <a:srgbClr val="242827"/>
                </a:solidFill>
              </a:rPr>
              <a:t>Technology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BF263B-F34D-4F9A-B631-DDBAC070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43350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965"/>
                </a:solidFill>
              </a:defRPr>
            </a:pPr>
            <a:r>
              <a:rPr sz="1200" b="0">
                <a:solidFill>
                  <a:srgbClr val="666965"/>
                </a:solidFill>
              </a:rPr>
              <a:t>See reviewed Canadian capability.</a:t>
            </a:r>
          </a:p>
        </p:txBody>
      </p:sp>
      <p:sp>
        <p:nvSpPr>
          <p:cNvPr id="21" name="step-03">
            <a:extLst xmlns:a="http://schemas.openxmlformats.org/drawingml/2006/main">
              <a:ext uri="{FF2B5EF4-FFF2-40B4-BE49-F238E27FC236}">
                <a16:creationId xmlns:a16="http://schemas.microsoft.com/office/drawing/2014/main" id="{F7CDF0F5-90B6-42E4-8FB9-3089949B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57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6C5790-4B9C-4CED-87B7-6AAF22DC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52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827"/>
                </a:solidFill>
              </a:defRPr>
            </a:pPr>
            <a:r>
              <a:rPr sz="1050" b="1">
                <a:solidFill>
                  <a:srgbClr val="242827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9348D7-52E7-4D95-89C8-3560ADBE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861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827"/>
                </a:solidFill>
              </a:defRPr>
            </a:pPr>
            <a:r>
              <a:rPr sz="1800" b="1">
                <a:solidFill>
                  <a:srgbClr val="242827"/>
                </a:solidFill>
              </a:rPr>
              <a:t>Public need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B9BA35-6166-4F9D-BCB4-7F2242E0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43350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965"/>
                </a:solidFill>
              </a:defRPr>
            </a:pPr>
            <a:r>
              <a:rPr sz="1200" b="0">
                <a:solidFill>
                  <a:srgbClr val="666965"/>
                </a:solidFill>
              </a:rPr>
              <a:t>Follow a released, source-gated signal.</a:t>
            </a:r>
          </a:p>
        </p:txBody>
      </p:sp>
      <p:sp>
        <p:nvSpPr>
          <p:cNvPr id="25" name="step-04">
            <a:extLst xmlns:a="http://schemas.openxmlformats.org/drawingml/2006/main">
              <a:ext uri="{FF2B5EF4-FFF2-40B4-BE49-F238E27FC236}">
                <a16:creationId xmlns:a16="http://schemas.microsoft.com/office/drawing/2014/main" id="{29B1C549-992F-48FF-916A-14C4AB9A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57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6B3E7B-DB73-40F4-934E-C15ED3C2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952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827"/>
                </a:solidFill>
              </a:defRPr>
            </a:pPr>
            <a:r>
              <a:rPr sz="1050" b="1">
                <a:solidFill>
                  <a:srgbClr val="242827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B9478E-7E90-4928-9FBD-15E864D2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4861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827"/>
                </a:solidFill>
              </a:defRPr>
            </a:pPr>
            <a:r>
              <a:rPr sz="1800" b="1">
                <a:solidFill>
                  <a:srgbClr val="242827"/>
                </a:solidFill>
              </a:rPr>
              <a:t>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850303-816A-4478-A531-B2E0907C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943350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965"/>
                </a:solidFill>
              </a:defRPr>
            </a:pPr>
            <a:r>
              <a:rPr sz="1200" b="0">
                <a:solidFill>
                  <a:srgbClr val="666965"/>
                </a:solidFill>
              </a:rPr>
              <a:t>Inspect support, strength and visible gaps.</a:t>
            </a:r>
          </a:p>
        </p:txBody>
      </p:sp>
      <p:sp>
        <p:nvSpPr>
          <p:cNvPr id="29" name="step-05">
            <a:extLst xmlns:a="http://schemas.openxmlformats.org/drawingml/2006/main">
              <a:ext uri="{FF2B5EF4-FFF2-40B4-BE49-F238E27FC236}">
                <a16:creationId xmlns:a16="http://schemas.microsoft.com/office/drawing/2014/main" id="{0FC29BB6-B38C-43E0-98B9-DD203A87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57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D82432-9328-4880-BDE6-1E6614AD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52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2827"/>
                </a:solidFill>
              </a:defRPr>
            </a:pPr>
            <a:r>
              <a:rPr sz="1050" b="1">
                <a:solidFill>
                  <a:srgbClr val="242827"/>
                </a:solidFill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64576D-FFE1-440C-A8C1-AE64A8DE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861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827"/>
                </a:solidFill>
              </a:defRPr>
            </a:pPr>
            <a:r>
              <a:rPr sz="1800" b="1">
                <a:solidFill>
                  <a:srgbClr val="242827"/>
                </a:solidFill>
              </a:rPr>
              <a:t>Action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366940-C93C-48AB-A51A-546E08C3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43350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965"/>
                </a:solidFill>
              </a:defRPr>
            </a:pPr>
            <a:r>
              <a:rPr sz="1200" b="0">
                <a:solidFill>
                  <a:srgbClr val="666965"/>
                </a:solidFill>
              </a:rPr>
              <a:t>Build a Working List or start a conversation.</a:t>
            </a:r>
          </a:p>
        </p:txBody>
      </p:sp>
      <p:sp>
        <p:nvSpPr>
          <p:cNvPr id="33" name="trust-boundary">
            <a:extLst xmlns:a="http://schemas.openxmlformats.org/drawingml/2006/main">
              <a:ext uri="{FF2B5EF4-FFF2-40B4-BE49-F238E27FC236}">
                <a16:creationId xmlns:a16="http://schemas.microsoft.com/office/drawing/2014/main" id="{682D8509-1BC7-44CC-8031-3B770748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46EDCC-45AE-4254-961B-D682B920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Sources create the public record. People review the interpretation. AI helps people explore, but it does not publish facts or make procurement decisions.</a:t>
            </a:r>
          </a:p>
        </p:txBody>
      </p:sp>
      <p:sp>
        <p:nvSpPr>
          <p:cNvPr id="35" name="rule">
            <a:extLst xmlns:a="http://schemas.openxmlformats.org/drawingml/2006/main">
              <a:ext uri="{FF2B5EF4-FFF2-40B4-BE49-F238E27FC236}">
                <a16:creationId xmlns:a16="http://schemas.microsoft.com/office/drawing/2014/main" id="{3689A085-3DBD-4B13-A38A-5A438105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B3637B-1CF1-4A8E-8E35-A5A4ECFB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6965"/>
                </a:solidFill>
              </a:defRPr>
            </a:pPr>
            <a:r>
              <a:rPr sz="825" b="1">
                <a:solidFill>
                  <a:srgbClr val="666965"/>
                </a:solidFill>
              </a:rPr>
              <a:t>TRUENORTHMAP.CA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A35148-0174-40B3-BFDA-E360B9E9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965"/>
                </a:solidFill>
              </a:defRPr>
            </a:pPr>
            <a:r>
              <a:rPr sz="825" b="1">
                <a:solidFill>
                  <a:srgbClr val="66696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559479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a2bcacb6642ae">
            <a:extLst>
              <a:ext uri="{96DAC541-7B7A-43D3-8B79-37D633B846F1}">
                <asvg:svgBlip xmlns:asvg="http://schemas.microsoft.com/office/drawing/2016/SVG/main" r:embed="Reec84dae393e48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95300"/>
            <a:ext cx="238125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AF9B3-137A-4370-AFE7-0A1F618F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965"/>
                </a:solidFill>
              </a:defRPr>
            </a:pPr>
            <a:r>
              <a:rPr sz="900" b="1">
                <a:solidFill>
                  <a:srgbClr val="666965"/>
                </a:solidFill>
              </a:rPr>
              <a:t>EVIDENCE AND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BDC59-A94D-4E1A-84F5-7DA91954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827"/>
                </a:solidFill>
              </a:defRPr>
            </a:pPr>
            <a:r>
              <a:rPr sz="3150" b="1">
                <a:solidFill>
                  <a:srgbClr val="242827"/>
                </a:solidFill>
              </a:rPr>
              <a:t>Every public connection stays reviewable.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715ee4dea46f8"/>
          <a:srcRect xmlns:a="http://schemas.openxmlformats.org/drawingml/2006/main" l="0" t="10361" r="0" b="103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428875"/>
            <a:ext cx="6191250" cy="3409950"/>
          </a:xfrm>
          <a:prstGeom xmlns:a="http://schemas.openxmlformats.org/drawingml/2006/main" prst="rect">
            <a:avLst/>
          </a:prstGeom>
        </p:spPr>
      </p:pic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188D89D-F53D-432F-B82F-BC6175DD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619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21F5C-2C46-4540-9D0B-94F2FD24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6147"/>
                </a:solidFill>
              </a:defRPr>
            </a:pPr>
            <a:r>
              <a:rPr sz="1050" b="1">
                <a:solidFill>
                  <a:srgbClr val="126147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A73FD-9DC1-44E4-AC90-95FD243D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95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827"/>
                </a:solidFill>
              </a:defRPr>
            </a:pPr>
            <a:r>
              <a:rPr sz="1575" b="1">
                <a:solidFill>
                  <a:srgbClr val="242827"/>
                </a:solidFill>
              </a:rPr>
              <a:t>Durable public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354E2-679D-4F69-A068-D5995376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098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965"/>
                </a:solidFill>
              </a:defRPr>
            </a:pPr>
            <a:r>
              <a:rPr sz="1125" b="0">
                <a:solidFill>
                  <a:srgbClr val="666965"/>
                </a:solidFill>
              </a:rPr>
              <a:t>Company, government, allied or program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F6B35-2B4D-49E5-AEC6-886F79E1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6147"/>
                </a:solidFill>
              </a:defRPr>
            </a:pPr>
            <a:r>
              <a:rPr sz="1050" b="1">
                <a:solidFill>
                  <a:srgbClr val="126147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62AEE-B697-40CB-8AF9-96643AF9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147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827"/>
                </a:solidFill>
              </a:defRPr>
            </a:pPr>
            <a:r>
              <a:rPr sz="1575" b="1">
                <a:solidFill>
                  <a:srgbClr val="242827"/>
                </a:solidFill>
              </a:rPr>
              <a:t>Structured candidate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7ED79-CC00-4C16-93D6-69ADAB8A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290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965"/>
                </a:solidFill>
              </a:defRPr>
            </a:pPr>
            <a:r>
              <a:rPr sz="1125" b="0">
                <a:solidFill>
                  <a:srgbClr val="666965"/>
                </a:solidFill>
              </a:rPr>
              <a:t>Facts, citations, confidence and gaps stay attached.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E1D39-2902-479E-AC8F-97CFD62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52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6147"/>
                </a:solidFill>
              </a:defRPr>
            </a:pPr>
            <a:r>
              <a:rPr sz="1050" b="1">
                <a:solidFill>
                  <a:srgbClr val="126147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F9F86-05FC-4D80-AEEA-D14061CB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33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827"/>
                </a:solidFill>
              </a:defRPr>
            </a:pPr>
            <a:r>
              <a:rPr sz="1575" b="1">
                <a:solidFill>
                  <a:srgbClr val="242827"/>
                </a:solidFill>
              </a:rPr>
              <a:t>Private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49930-6105-4B7D-BE27-C690D6B7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481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965"/>
                </a:solidFill>
              </a:defRPr>
            </a:pPr>
            <a:r>
              <a:rPr sz="1125" b="0">
                <a:solidFill>
                  <a:srgbClr val="666965"/>
                </a:solidFill>
              </a:rPr>
              <a:t>A person edits, accepts, defers or rejects the proposed change.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E30A8-F9A6-4DA8-9CC7-33D16C1F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72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6147"/>
                </a:solidFill>
              </a:defRPr>
            </a:pPr>
            <a:r>
              <a:rPr sz="1050" b="1">
                <a:solidFill>
                  <a:srgbClr val="126147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0605A-849F-4757-83DC-5C2A1923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53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827"/>
                </a:solidFill>
              </a:defRPr>
            </a:pPr>
            <a:r>
              <a:rPr sz="1575" b="1">
                <a:solidFill>
                  <a:srgbClr val="242827"/>
                </a:solidFill>
              </a:rPr>
              <a:t>Explicit publication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30673-8755-40C5-8AD9-EEC6B666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2673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965"/>
                </a:solidFill>
              </a:defRPr>
            </a:pPr>
            <a:r>
              <a:rPr sz="1125" b="0">
                <a:solidFill>
                  <a:srgbClr val="666965"/>
                </a:solidFill>
              </a:rPr>
              <a:t>Only the publish checkpoint changes the public record.</a:t>
            </a:r>
          </a:p>
        </p:txBody>
      </p:sp>
      <p:sp>
        <p:nvSpPr>
          <p:cNvPr id="18" name="public-boundary">
            <a:extLst xmlns:a="http://schemas.openxmlformats.org/drawingml/2006/main">
              <a:ext uri="{FF2B5EF4-FFF2-40B4-BE49-F238E27FC236}">
                <a16:creationId xmlns:a16="http://schemas.microsoft.com/office/drawing/2014/main" id="{B16B4260-0194-426D-B00F-3D7466D1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829300"/>
            <a:ext cx="392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076C9-2D96-4872-9842-AD4BCDCD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9436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2827"/>
                </a:solidFill>
              </a:defRPr>
            </a:pPr>
            <a:r>
              <a:rPr sz="1050" b="1">
                <a:solidFill>
                  <a:srgbClr val="242827"/>
                </a:solidFill>
              </a:rPr>
              <a:t>No agent, feed or model can publish autonomously.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51DAD880-3DA0-4D01-932C-A082160A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083072-5B37-43B7-B968-A57F72E4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6965"/>
                </a:solidFill>
              </a:defRPr>
            </a:pPr>
            <a:r>
              <a:rPr sz="825" b="1">
                <a:solidFill>
                  <a:srgbClr val="666965"/>
                </a:solidFill>
              </a:rPr>
              <a:t>TRUENORTHMAP.CA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F4792-79DB-4B0B-BFE9-9423F53A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6965"/>
                </a:solidFill>
              </a:defRPr>
            </a:pPr>
            <a:r>
              <a:rPr sz="825" b="1">
                <a:solidFill>
                  <a:srgbClr val="66696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233171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42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ignal-line">
            <a:extLst xmlns:a="http://schemas.openxmlformats.org/drawingml/2006/main">
              <a:ext uri="{FF2B5EF4-FFF2-40B4-BE49-F238E27FC236}">
                <a16:creationId xmlns:a16="http://schemas.microsoft.com/office/drawing/2014/main" id="{D63025D9-556C-4DC2-9C67-24DC08C3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416e652294c0e">
            <a:extLst>
              <a:ext uri="{96DAC541-7B7A-43D3-8B79-37D633B846F1}">
                <asvg:svgBlip xmlns:asvg="http://schemas.microsoft.com/office/drawing/2016/SVG/main" r:embed="Rc76caa7ca4f245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95300"/>
            <a:ext cx="238125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1CBEF-50C6-4E50-84C8-11486A42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6CAC7"/>
                </a:solidFill>
              </a:defRPr>
            </a:pPr>
            <a:r>
              <a:rPr sz="900" b="1">
                <a:solidFill>
                  <a:srgbClr val="C6CAC7"/>
                </a:solidFill>
              </a:rPr>
              <a:t>FROM DISCOVERY TO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3B639-89D1-4F3D-A913-AE18500A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Move into a better conversation.</a:t>
            </a:r>
          </a:p>
        </p:txBody>
      </p:sp>
      <p:sp>
        <p:nvSpPr>
          <p:cNvPr id="5" name="action-Inspect">
            <a:extLst xmlns:a="http://schemas.openxmlformats.org/drawingml/2006/main">
              <a:ext uri="{FF2B5EF4-FFF2-40B4-BE49-F238E27FC236}">
                <a16:creationId xmlns:a16="http://schemas.microsoft.com/office/drawing/2014/main" id="{3EB4E87A-8426-4E01-A167-A37357BC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834F5-DDC1-4B77-B2E2-23EAF996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A6686-A1F3-4ED1-BDD6-06D1B283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9900"/>
            <a:ext cx="319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AD8"/>
                </a:solidFill>
              </a:defRPr>
            </a:pPr>
            <a:r>
              <a:rPr sz="1200" b="0">
                <a:solidFill>
                  <a:srgbClr val="D8DAD8"/>
                </a:solidFill>
              </a:rPr>
              <a:t>the organization, technology, evidence and current gaps.</a:t>
            </a:r>
          </a:p>
        </p:txBody>
      </p:sp>
      <p:sp>
        <p:nvSpPr>
          <p:cNvPr id="8" name="action-Compare">
            <a:extLst xmlns:a="http://schemas.openxmlformats.org/drawingml/2006/main">
              <a:ext uri="{FF2B5EF4-FFF2-40B4-BE49-F238E27FC236}">
                <a16:creationId xmlns:a16="http://schemas.microsoft.com/office/drawing/2014/main" id="{3F2A386F-CF03-4F88-9668-8E89D5E9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25DF9-7D30-4EF0-9A6F-E2B795C9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814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7D0D6-930B-45C8-8948-650A6A86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319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AD8"/>
                </a:solidFill>
              </a:defRPr>
            </a:pPr>
            <a:r>
              <a:rPr sz="1200" b="0">
                <a:solidFill>
                  <a:srgbClr val="D8DAD8"/>
                </a:solidFill>
              </a:rPr>
              <a:t>possible relevance across Mission Areas and released Public Needs.</a:t>
            </a:r>
          </a:p>
        </p:txBody>
      </p:sp>
      <p:sp>
        <p:nvSpPr>
          <p:cNvPr id="11" name="action-Carry">
            <a:extLst xmlns:a="http://schemas.openxmlformats.org/drawingml/2006/main">
              <a:ext uri="{FF2B5EF4-FFF2-40B4-BE49-F238E27FC236}">
                <a16:creationId xmlns:a16="http://schemas.microsoft.com/office/drawing/2014/main" id="{F3A883DB-44AA-4E85-BD28-DCDFB412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7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06F9C-BCA5-4B8D-AAC7-208C010B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6247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Carry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A4E64-61C4-47F0-B437-7D1F2F6C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319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AD8"/>
                </a:solidFill>
              </a:defRPr>
            </a:pPr>
            <a:r>
              <a:rPr sz="1200" b="0">
                <a:solidFill>
                  <a:srgbClr val="D8DAD8"/>
                </a:solidFill>
              </a:rPr>
              <a:t>the right targets into a Working List, export or introduction request.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ef376c5ac4640"/>
          <a:srcRect xmlns:a="http://schemas.openxmlformats.org/drawingml/2006/main" l="10763" t="0" r="107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123950"/>
            <a:ext cx="5314950" cy="4705350"/>
          </a:xfrm>
          <a:prstGeom xmlns:a="http://schemas.openxmlformats.org/drawingml/2006/main" prst="rect">
            <a:avLst/>
          </a:prstGeom>
        </p:spPr>
      </p:pic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3E4B994B-2201-4FDC-9FAE-3D4860C8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05500"/>
            <a:ext cx="5314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8CFB3D07-5058-4B7B-BA5C-29F768DE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01A254-1AE3-4A11-96F8-E0AD57D4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TRUENORTHMAP.CA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2E6CCE-C02D-4A03-A4E5-F99BC5D3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E900"/>
                </a:solidFill>
              </a:defRPr>
            </a:pPr>
            <a:r>
              <a:rPr sz="825" b="1">
                <a:solidFill>
                  <a:srgbClr val="F5E90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08771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E9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4cd34f37845ee">
            <a:extLst>
              <a:ext uri="{96DAC541-7B7A-43D3-8B79-37D633B846F1}">
                <asvg:svgBlip xmlns:asvg="http://schemas.microsoft.com/office/drawing/2016/SVG/main" r:embed="Rcf1e96f3a7f743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514350"/>
            <a:ext cx="238125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59045-E5AC-4102-BD28-440EC3E0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572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42827"/>
                </a:solidFill>
              </a:defRPr>
            </a:pPr>
            <a:r>
              <a:rPr sz="4200" b="1">
                <a:solidFill>
                  <a:srgbClr val="242827"/>
                </a:solidFill>
              </a:rPr>
              <a:t>Try one real question</a:t>
            </a:r>
          </a:p>
          <a:p xmlns:a="http://schemas.openxmlformats.org/drawingml/2006/main">
            <a:pPr algn="l">
              <a:defRPr sz="4200" b="1">
                <a:solidFill>
                  <a:srgbClr val="242827"/>
                </a:solidFill>
              </a:defRPr>
            </a:pPr>
            <a:r>
              <a:rPr sz="4200" b="1">
                <a:solidFill>
                  <a:srgbClr val="242827"/>
                </a:solidFill>
              </a:rPr>
              <a:t>from your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B34FC-194E-43F3-9280-C972FD0B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429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827"/>
                </a:solidFill>
              </a:defRPr>
            </a:pPr>
            <a:r>
              <a:rPr sz="1575" b="0">
                <a:solidFill>
                  <a:srgbClr val="242827"/>
                </a:solidFill>
              </a:rPr>
              <a:t>Start with a capability, mission or public need you are trying to understand. Inspect the evidence, follow the fit and decide who may be worth speaking with next.</a:t>
            </a:r>
          </a:p>
        </p:txBody>
      </p:sp>
      <p:sp>
        <p:nvSpPr>
          <p:cNvPr id="4" name="closing-field">
            <a:extLst xmlns:a="http://schemas.openxmlformats.org/drawingml/2006/main">
              <a:ext uri="{FF2B5EF4-FFF2-40B4-BE49-F238E27FC236}">
                <a16:creationId xmlns:a16="http://schemas.microsoft.com/office/drawing/2014/main" id="{055EBB1E-125B-490B-B0C6-5D3FE359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4099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88194eba2476a"/>
          <a:stretch xmlns:a="http://schemas.openxmlformats.org/drawingml/2006/main"/>
        </p:blipFill>
        <p:spPr>
          <a:xfrm xmlns:a="http://schemas.openxmlformats.org/drawingml/2006/main">
            <a:off x="9239250" y="1952625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033D9-7826-4741-9CB7-1528D840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33750"/>
            <a:ext cx="2609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MAKE CANADIAN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CAPABILITY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10C23-8697-480B-AE0A-BC0C3AB0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2827"/>
                </a:solidFill>
              </a:defRPr>
            </a:pPr>
            <a:r>
              <a:rPr sz="2400" b="1">
                <a:solidFill>
                  <a:srgbClr val="242827"/>
                </a:solidFill>
              </a:rPr>
              <a:t>truenorthmap.ca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34CE8-E1EF-44BE-A224-EF858099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2827"/>
                </a:solidFill>
              </a:defRPr>
            </a:pPr>
            <a:r>
              <a:rPr sz="1050" b="0">
                <a:solidFill>
                  <a:srgbClr val="242827"/>
                </a:solidFill>
              </a:rPr>
              <a:t>Independent project created and stewarded by Andrew Davies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5C4BE-A2DE-416A-BDD5-2A2FABC3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42827"/>
                </a:solidFill>
              </a:defRPr>
            </a:pPr>
            <a:r>
              <a:rPr sz="825" b="1">
                <a:solidFill>
                  <a:srgbClr val="24282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625436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2026-07-31T20:19:28.2670000Z</dcterms:created>
  <dcterms:modified xsi:type="dcterms:W3CDTF">2026-07-31T20:19:28.2670000Z</dcterms:modified>
</coreProperties>
</file>