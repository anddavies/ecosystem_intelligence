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1484de18204339" /><Relationship Type="http://schemas.openxmlformats.org/officeDocument/2006/relationships/extended-properties" Target="/docProps/app.xml" Id="R34667a4eff664b7b" /><Relationship Type="http://schemas.openxmlformats.org/officeDocument/2006/relationships/officeDocument" Target="/ppt/presentation.xml" Id="Rab4564793d9841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bea87b29cd4318"/>
  </p:sldMasterIdLst>
  <p:notesMasterIdLst>
    <p:notesMasterId xmlns:r="http://schemas.openxmlformats.org/officeDocument/2006/relationships" r:id="Rf0ea51ad4b9a4213"/>
  </p:notesMasterIdLst>
  <p:sldIdLst>
    <p:sldId xmlns:r="http://schemas.openxmlformats.org/officeDocument/2006/relationships" id="256" r:id="Re0c07558e02e4bd9"/>
    <p:sldId xmlns:r="http://schemas.openxmlformats.org/officeDocument/2006/relationships" id="257" r:id="Raff889f152d64320"/>
    <p:sldId xmlns:r="http://schemas.openxmlformats.org/officeDocument/2006/relationships" id="258" r:id="R77cb78c9631342d3"/>
    <p:sldId xmlns:r="http://schemas.openxmlformats.org/officeDocument/2006/relationships" id="259" r:id="R0d42c862f6754a21"/>
    <p:sldId xmlns:r="http://schemas.openxmlformats.org/officeDocument/2006/relationships" id="260" r:id="R1b4f4b299d854e96"/>
    <p:sldId xmlns:r="http://schemas.openxmlformats.org/officeDocument/2006/relationships" id="261" r:id="Rd206728d637c4722"/>
    <p:sldId xmlns:r="http://schemas.openxmlformats.org/officeDocument/2006/relationships" id="262" r:id="R949df25f017346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45e2178d3249c8" /><Relationship Type="http://schemas.openxmlformats.org/officeDocument/2006/relationships/slideMaster" Target="/ppt/slideMasters/slideMaster1.xml" Id="R8abea87b29cd4318" /><Relationship Type="http://schemas.openxmlformats.org/officeDocument/2006/relationships/notesMaster" Target="/ppt/notesMasters/notesMaster1.xml" Id="Rf0ea51ad4b9a4213" /><Relationship Type="http://schemas.openxmlformats.org/officeDocument/2006/relationships/presProps" Target="/ppt/presProps.xml" Id="Rae3c2ff979014dca" /><Relationship Type="http://schemas.openxmlformats.org/officeDocument/2006/relationships/tableStyles" Target="/ppt/tableStyles.xml" Id="R39dcfe0538c44fc5" /><Relationship Type="http://schemas.openxmlformats.org/officeDocument/2006/relationships/slide" Target="/ppt/slides/slide1.xml" Id="Re0c07558e02e4bd9" /><Relationship Type="http://schemas.openxmlformats.org/officeDocument/2006/relationships/slide" Target="/ppt/slides/slide2.xml" Id="Raff889f152d64320" /><Relationship Type="http://schemas.openxmlformats.org/officeDocument/2006/relationships/slide" Target="/ppt/slides/slide3.xml" Id="R77cb78c9631342d3" /><Relationship Type="http://schemas.openxmlformats.org/officeDocument/2006/relationships/slide" Target="/ppt/slides/slide4.xml" Id="R0d42c862f6754a21" /><Relationship Type="http://schemas.openxmlformats.org/officeDocument/2006/relationships/slide" Target="/ppt/slides/slide5.xml" Id="R1b4f4b299d854e96" /><Relationship Type="http://schemas.openxmlformats.org/officeDocument/2006/relationships/slide" Target="/ppt/slides/slide6.xml" Id="Rd206728d637c4722" /><Relationship Type="http://schemas.openxmlformats.org/officeDocument/2006/relationships/slide" Target="/ppt/slides/slide7.xml" Id="R949df25f017346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f96af5e8304a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0685791fbe453f" /><Relationship Type="http://schemas.openxmlformats.org/officeDocument/2006/relationships/notesMaster" Target="/ppt/notesMasters/notesMaster1.xml" Id="R3a202a707dc84e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35d84db7164ad2" /><Relationship Type="http://schemas.openxmlformats.org/officeDocument/2006/relationships/notesMaster" Target="/ppt/notesMasters/notesMaster1.xml" Id="R42f9e7e88e1f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0df37b1fa34340" /><Relationship Type="http://schemas.openxmlformats.org/officeDocument/2006/relationships/notesMaster" Target="/ppt/notesMasters/notesMaster1.xml" Id="R86f5efefe3d843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8b2788c511400f" /><Relationship Type="http://schemas.openxmlformats.org/officeDocument/2006/relationships/notesMaster" Target="/ppt/notesMasters/notesMaster1.xml" Id="R19a1e0ec407f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dc9ae692024573" /><Relationship Type="http://schemas.openxmlformats.org/officeDocument/2006/relationships/notesMaster" Target="/ppt/notesMasters/notesMaster1.xml" Id="R32e856b99e214e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31ca235ec24dca" /><Relationship Type="http://schemas.openxmlformats.org/officeDocument/2006/relationships/notesMaster" Target="/ppt/notesMasters/notesMaster1.xml" Id="Re148e39002bb48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25460b16b649d8" /><Relationship Type="http://schemas.openxmlformats.org/officeDocument/2006/relationships/notesMaster" Target="/ppt/notesMasters/notesMaster1.xml" Id="R90484e9323f640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https://truenorthmap.ca</a:t>
            </a:r>
          </a:p>
          <a:p xmlns:a="http://schemas.openxmlformats.org/drawingml/2006/main">
            <a:r>
              <a:t>- True North Map Phase 2 homepage screenshot, captured 2026-07-26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True North Map founder positioning and About page, https://truenorthmap.ca/about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https://truenorthmap.ca/how-it-works</a:t>
            </a:r>
          </a:p>
          <a:p xmlns:a="http://schemas.openxmlformats.org/drawingml/2006/main">
            <a:r>
              <a:t>- True North Map organization profile screenshot, captured 2026-07-26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https://truenorthmap.ca/methodology</a:t>
            </a:r>
          </a:p>
          <a:p xmlns:a="http://schemas.openxmlformats.org/drawingml/2006/main">
            <a:r>
              <a:t>- https://truenorthmap.ca/how-it-works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https://truenorthmap.ca, live production counts read 2026-07-26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https://truenorthmap.ca/demand</a:t>
            </a:r>
          </a:p>
          <a:p xmlns:a="http://schemas.openxmlformats.org/drawingml/2006/main">
            <a:r>
              <a:t>- True North Map Public Need screenshot, captured 2026-07-26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https://truenorthmap.ca</a:t>
            </a:r>
          </a:p>
          <a:p xmlns:a="http://schemas.openxmlformats.org/drawingml/2006/main">
            <a:r>
              <a:t>- https://truenorthmap.ca/about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65c1707944c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cd746c75ff4e73" /><Relationship Type="http://schemas.openxmlformats.org/officeDocument/2006/relationships/slideLayout" Target="/ppt/slideLayouts/slideLayout1.xml" Id="R258e9c9fa64847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e9c9fa64847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15b77134a405f" /><Relationship Type="http://schemas.openxmlformats.org/officeDocument/2006/relationships/image" Target="/ppt/media/image.png" Id="R9681b31700734467" /><Relationship Type="http://schemas.openxmlformats.org/officeDocument/2006/relationships/notesSlide" Target="/ppt/notesSlides/notesSlide1.xml" Id="Rd0e345d71ae041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74fd9c7d84960" /><Relationship Type="http://schemas.openxmlformats.org/officeDocument/2006/relationships/notesSlide" Target="/ppt/notesSlides/notesSlide2.xml" Id="R030a7029e9b340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7109753cf4fe5" /><Relationship Type="http://schemas.openxmlformats.org/officeDocument/2006/relationships/image" Target="/ppt/media/image2.png" Id="R7d4268c3a6694426" /><Relationship Type="http://schemas.openxmlformats.org/officeDocument/2006/relationships/notesSlide" Target="/ppt/notesSlides/notesSlide3.xml" Id="Rd83428445be74b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162e060624a15" /><Relationship Type="http://schemas.openxmlformats.org/officeDocument/2006/relationships/notesSlide" Target="/ppt/notesSlides/notesSlide4.xml" Id="R525d468ff1ad40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972c474d44c6a" /><Relationship Type="http://schemas.openxmlformats.org/officeDocument/2006/relationships/notesSlide" Target="/ppt/notesSlides/notesSlide5.xml" Id="R80d20ae7008e49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b7c488f994a7a" /><Relationship Type="http://schemas.openxmlformats.org/officeDocument/2006/relationships/image" Target="/ppt/media/image3.png" Id="R37881f288c444c55" /><Relationship Type="http://schemas.openxmlformats.org/officeDocument/2006/relationships/notesSlide" Target="/ppt/notesSlides/notesSlide6.xml" Id="R3aaf1dee503b4a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56501a49f4bda" /><Relationship Type="http://schemas.openxmlformats.org/officeDocument/2006/relationships/notesSlide" Target="/ppt/notesSlides/notesSlide7.xml" Id="Rb03c04f7753348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BAE02-8FAB-40E1-8A80-BACBAB50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42220-4398-47BA-9EC3-84D01CD1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90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EVIDENCE-LED ECOSYSTEM DISCOVERY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B21D0-1E2E-4721-A70A-8B0626CD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40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Canada is building more</a:t>
            </a:r>
          </a:p>
          <a:p xmlns:a="http://schemas.openxmlformats.org/drawingml/2006/main">
            <a:pPr algn="l">
              <a:defRPr sz="40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40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than most people can see.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FC7A0-AEE0-41D6-9032-3228DAA9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True North Map makes Canadian defence and dual-use capability easier to find, understand and connect.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E64F5-8A3C-4934-877E-C7535DF1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667125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0B64C-2A25-4D1A-BE98-55C9B992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50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Make Canadian capability visible.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1b31700734467"/>
          <a:srcRect xmlns:a="http://schemas.openxmlformats.org/drawingml/2006/main" l="20366" t="0" r="203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647700"/>
            <a:ext cx="4286250" cy="5524500"/>
          </a:xfrm>
          <a:prstGeom xmlns:a="http://schemas.openxmlformats.org/drawingml/2006/main" prst="roundRect">
            <a:avLst>
              <a:gd name="adj" fmla="val 3556"/>
            </a:avLst>
          </a:prstGeom>
        </p:spPr>
      </p:pic>
    </p:spTree>
    <p:extLst>
      <p:ext uri="{BB962C8B-B14F-4D97-AF65-F5344CB8AC3E}">
        <p14:creationId xmlns:p14="http://schemas.microsoft.com/office/powerpoint/2010/main" val="2088744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719BBE-DDCE-4F90-8DEC-D8A3F8D9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90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THE VISIBILITY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78CAD-3D29-48E6-A38E-24EF661D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31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Canadian capability is strong.</a:t>
            </a:r>
          </a:p>
          <a:p xmlns:a="http://schemas.openxmlformats.org/drawingml/2006/main">
            <a:pPr algn="l">
              <a:defRPr sz="31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31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The shared picture is fragmented.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E61F4-1BA4-4FC7-9021-0AC182A6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8C5D2-CC7E-4370-91B1-25309AB8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210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A9E17-FF47-40CD-9E0C-A3C357C6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2025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Scattered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88386-76CD-490D-B2E2-77EE1F1A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Organizations, technologies, programs and public needs live across disconnected 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5A908-02EA-4BE4-9914-1E26D062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42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96C75-2ABA-4B27-895D-3862D82E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765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E900"/>
                </a:solidFill>
                <a:latin typeface="Barlow"/>
                <a:ea typeface="Barlow"/>
                <a:cs typeface="Barlow"/>
              </a:defRPr>
            </a:pPr>
            <a:r>
              <a:rPr sz="2100" b="1">
                <a:solidFill>
                  <a:srgbClr val="F5E900"/>
                </a:solidFill>
                <a:latin typeface="Barlow"/>
                <a:ea typeface="Barlow"/>
                <a:cs typeface="Barlow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9895F-C273-4338-BBF4-A2E7B15E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766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2025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Slower discovery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8BF07-60DA-4FFC-8A68-38AFE636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386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9D2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9D9D2"/>
                </a:solidFill>
                <a:latin typeface="Inter"/>
                <a:ea typeface="Inter"/>
                <a:cs typeface="Inter"/>
              </a:rPr>
              <a:t>Teams spend time rebuilding the landscape before they can decide who is worth speaking with.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A1D66-CD9B-4A5A-8085-E5C494C5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0A36C-ABA4-4EB0-849E-1816BDD9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210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867C1-D06A-4EF5-9066-AEACA51D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766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2025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Missed 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BF4F9-7EA1-4171-9194-E68F9959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386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Relevant capability is harder to recognize when the evidence, need and organization are separated.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6057E-4539-4C28-AE21-17F0D569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51D82-235D-4C2A-B587-02FC218B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75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TRUE NORTH MAP  |  PARTNER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70A35-7036-4CA7-82AB-F350EAA6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75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6471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5FA54-52DE-40AC-A309-E1AB8C65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90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657B1-61B5-432E-971E-097EC0C2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31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Follow the evidence. Find the fit.</a:t>
            </a:r>
          </a:p>
          <a:p xmlns:a="http://schemas.openxmlformats.org/drawingml/2006/main">
            <a:pPr algn="l">
              <a:defRPr sz="31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31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Start the right conversation.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268c3a6694426"/>
          <a:srcRect xmlns:a="http://schemas.openxmlformats.org/drawingml/2006/main" l="0" t="1575" r="0" b="15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81250"/>
            <a:ext cx="6381750" cy="3476625"/>
          </a:xfrm>
          <a:prstGeom xmlns:a="http://schemas.openxmlformats.org/drawingml/2006/main" prst="roundRect">
            <a:avLst>
              <a:gd name="adj" fmla="val 438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13673-9432-4087-BC65-D86A522A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4000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5B838-A0AA-447F-B763-22C3716A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242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83C4B-57EC-4A9F-ACCE-3D73F53B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1350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CCA99-AE4A-4658-B0F7-73DCBE85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95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6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Explore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C556C-0923-4F30-A961-3FF05A27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19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Find companies, technologies and regions.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1986D-ADE7-4CA0-BFBD-C53C3B2E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4000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BD2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CB5FD-6D53-43A8-8961-5B279EC4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341E2-693E-4741-94B4-26983592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3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6AC29-7CF2-4951-9A6C-458712D9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6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Inspect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37D0B-5E6E-4B23-8757-5C0AF464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Open the sources and visible gaps.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A815F-C825-48E4-8BD8-74088DBB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4000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D933C-4113-4D3A-86DC-E467A262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577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242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B03B5-6909-4063-8526-B24F96B0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57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1350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7755E-956A-48B5-85A6-489A5664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81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6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Connect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55569-8B73-434E-A002-48734114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05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Save a Working List or start a conversation.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C149E-0162-40E9-960A-EB9626BA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4D20F-ADE3-476A-A981-F4330899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75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TRUE NORTH MAP  |  PARTNER OVERVIEW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BC64D-B4FF-43E9-A869-B9FFF0C2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75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3477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2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16F12-A2CD-4B4A-916D-B351A853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E900"/>
                </a:solidFill>
                <a:latin typeface="Barlow"/>
                <a:ea typeface="Barlow"/>
                <a:cs typeface="Barlow"/>
              </a:defRPr>
            </a:pPr>
            <a:r>
              <a:rPr sz="900" b="1">
                <a:solidFill>
                  <a:srgbClr val="F5E900"/>
                </a:solidFill>
                <a:latin typeface="Barlow"/>
                <a:ea typeface="Barlow"/>
                <a:cs typeface="Barlow"/>
              </a:rPr>
              <a:t>A REVIEWED PUBLIC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801B9-0416-4BDC-8A03-73D8CB92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3300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Evidence is the product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C9224-33DE-4D54-A975-6286900F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9D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D9D9D2"/>
                </a:solidFill>
                <a:latin typeface="Inter"/>
                <a:ea typeface="Inter"/>
                <a:cs typeface="Inter"/>
              </a:rPr>
              <a:t>Sources create the public record. People review the interpretation. AI helps people explore, but it does not publish facts or make procurement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C2F6F-BD03-4A58-9C27-7EA51FD1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333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72EA2-5182-4937-ADDC-BEB90727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80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Reviewed public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545C8-70D9-4908-B5F4-B4D484D9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Profiles and technologies link to durable public 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6CD41-CDD1-4AEE-8C2B-B2387B6F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3333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1B6B9-F76B-4D9D-BAC3-15DF7252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14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80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Transparent gaps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C4674-B366-49C4-9F05-D466DD18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29125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Unknown, stale or incomplete information remains visible.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3FB1C-EBEE-454C-AD66-41748CB9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333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BCACF-68F2-4489-B640-D5848711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80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Human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7E156-7B10-4C50-A41D-25E462C7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29125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Research and suggested matches remain private until explicitly published.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D3ABC-0D4B-44F3-8D14-ABF71A18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BC6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8CBC6"/>
                </a:solidFill>
                <a:latin typeface="Inter"/>
                <a:ea typeface="Inter"/>
                <a:cs typeface="Inter"/>
              </a:rPr>
              <a:t>Public-source relevance is not procurement eligibility, endorsement or classified demand.</a:t>
            </a:r>
          </a:p>
        </p:txBody>
      </p:sp>
    </p:spTree>
    <p:extLst>
      <p:ext uri="{BB962C8B-B14F-4D97-AF65-F5344CB8AC3E}">
        <p14:creationId xmlns:p14="http://schemas.microsoft.com/office/powerpoint/2010/main" val="1152526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7594A-F37C-46EE-9DF6-B69905DC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90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CURRENT PUBLIC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F3D64-CEA6-4920-BEA7-7024DED4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31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A live national discovery layer,</a:t>
            </a:r>
          </a:p>
          <a:p xmlns:a="http://schemas.openxmlformats.org/drawingml/2006/main">
            <a:pPr algn="l">
              <a:defRPr sz="31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31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ready to learn in public.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30E20-6AD9-49E1-A86E-C446D93E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242887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55328-ADEB-4594-8559-57F883A0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28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257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B0919-6A6D-4875-8FDF-BE1E5599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published organization profiles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ED784-10D5-48E6-87FE-F2002EE0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24125"/>
            <a:ext cx="242887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8F2DC-2EA3-444E-A253-0C89D652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860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28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245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EAB27-94FA-4B2B-AD61-77DE39E7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766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reviewed technologies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49D65-FAD6-421B-9014-CF251BC0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242887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473B4-35C9-4D78-8786-BC933816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28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383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C8C34-F4E8-45ED-A807-B9F9BF54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cited public 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626A7-D4B4-4E12-9486-18A18BB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24125"/>
            <a:ext cx="242887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E900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0746A-99E5-4D3C-A3BD-C96E3035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860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28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DC36A-C597-46D8-AE53-E4152F29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766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96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66965"/>
                </a:solidFill>
                <a:latin typeface="Inter"/>
                <a:ea typeface="Inter"/>
                <a:cs typeface="Inter"/>
              </a:rPr>
              <a:t>released public needs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6FAF6-45AB-4D76-A902-0890383A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6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The corpus continues to grow through the established research, evidence and human-review workflow. Coverage gaps are published honestly rather than padded.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CEA42-75A5-4978-A423-C75864D3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81500"/>
            <a:ext cx="3190875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42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EA2EF-7923-4129-89DE-29489DEF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E9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F5E900"/>
                </a:solidFill>
                <a:latin typeface="Barlow"/>
                <a:ea typeface="Barlow"/>
                <a:cs typeface="Barlow"/>
              </a:rPr>
              <a:t>Public Beta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096AA-940E-4247-B04E-00762A4F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053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1275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Free to browse, search, inspect and share.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58D68-CE05-4ADC-80E5-F8F96D8D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673EE-DE7A-40FE-89BA-52F22E5A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75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TRUE NORTH MAP  |  PARTNER OVERVIEW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E6EA55-EB25-4E09-A1D6-92B5FC27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75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84843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1D7D4-DF9A-480C-AF00-A39313A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90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WAYS TO USE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56BD2-F99B-4EAB-93F1-CFC0CF3F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330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Start with a real question.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81f288c444c55"/>
          <a:srcRect xmlns:a="http://schemas.openxmlformats.org/drawingml/2006/main" l="0" t="1070" r="0" b="10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838200"/>
            <a:ext cx="5191125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29059-7740-4F1A-B3D8-6C65115A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953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5E900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E2451-3C90-4BF4-B2A1-179F1369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975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5A66D-9AC3-473F-AE69-EEC3B3F9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193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3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Find a Canadian supplier or partner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C6E4C-981C-4240-A2FD-BE19D34E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4953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FF618-18CA-4222-90A9-CC9BFA76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975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7D169-5138-4D5D-B7A8-93348ADC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3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Map technology to a released public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A40A8-3A8A-4D3C-A198-77339D0A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4953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CCBED-6C26-4D80-B396-3DA46821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975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60F5C-E03B-4EC9-86DB-BD587308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909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3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Understand a regional capability landscape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FE1FF-AEAC-4229-B200-F809BBE4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4953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FDFEE-25A1-41D7-9500-9BF3285F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975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16174-B94D-4F5B-85A8-9EF0228B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767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3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Build a source-backed Working 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2BFE8-6589-408B-8EED-2DD3F491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4953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09931-126C-4662-B443-F9AD331E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975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4C86E-28BB-421D-BC7C-6A8201F5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625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3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Correct, claim or add a public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88534-7A56-44B4-A4CF-17EC7986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519112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242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73D09-05D1-450E-A1DB-F69E8C16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1950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Try one real 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F97E7-6BF5-49F0-926A-D7617001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42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9D2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9D9D2"/>
                </a:solidFill>
                <a:latin typeface="Inter"/>
                <a:ea typeface="Inter"/>
                <a:cs typeface="Inter"/>
              </a:rPr>
              <a:t>Tell us where the evidence, result or next step falls short. That is the most useful feedback.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28795-3309-4D8C-B208-83DA4C48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9E414-CCE3-4B66-BC98-A6AF8CC0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75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TRUE NORTH MAP  |  PARTNER OVERVIEW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A9E27-A1C8-4AD7-8496-7C5D3F7D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965"/>
                </a:solidFill>
                <a:latin typeface="Barlow"/>
                <a:ea typeface="Barlow"/>
                <a:cs typeface="Barlow"/>
              </a:defRPr>
            </a:pPr>
            <a:r>
              <a:rPr sz="750" b="1">
                <a:solidFill>
                  <a:srgbClr val="666965"/>
                </a:solidFill>
                <a:latin typeface="Barlow"/>
                <a:ea typeface="Barlow"/>
                <a:cs typeface="Barlow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76899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E9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6A268-68B5-40D3-AB9C-5F5AC0F7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90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INDEPENDENT PROJECT BY ANDREW DAVIES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9DFCE-4B81-4360-89C8-8B214E5D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46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Make Canadian</a:t>
            </a:r>
          </a:p>
          <a:p xmlns:a="http://schemas.openxmlformats.org/drawingml/2006/main">
            <a:pPr algn="l">
              <a:defRPr sz="46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46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capability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A363C-FD56-40BE-82FA-B473DE0E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638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80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Explore the map. Follow the evidence. Find the organizations worth speaking with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07019-B791-4082-9296-6D2D43DA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476625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242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1BE39-9168-4F0B-8473-1D18267C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244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1650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truenorthmap.ca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32594-CAC5-4263-AD80-88152FCD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42827"/>
                </a:solidFill>
                <a:latin typeface="Barlow"/>
                <a:ea typeface="Barlow"/>
                <a:cs typeface="Barlow"/>
              </a:defRPr>
            </a:pPr>
            <a:r>
              <a:rPr sz="1350" b="1">
                <a:solidFill>
                  <a:srgbClr val="242827"/>
                </a:solidFill>
                <a:latin typeface="Barlow"/>
                <a:ea typeface="Barlow"/>
                <a:cs typeface="Barlow"/>
              </a:rPr>
              <a:t>Evidence-led ecosystem discovery</a:t>
            </a:r>
          </a:p>
        </p:txBody>
      </p:sp>
    </p:spTree>
    <p:extLst>
      <p:ext uri="{BB962C8B-B14F-4D97-AF65-F5344CB8AC3E}">
        <p14:creationId xmlns:p14="http://schemas.microsoft.com/office/powerpoint/2010/main" val="201297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2026-07-26T10:38:49.7230000Z</dcterms:created>
  <dcterms:modified xsi:type="dcterms:W3CDTF">2026-07-26T10:38:49.7230000Z</dcterms:modified>
</coreProperties>
</file>